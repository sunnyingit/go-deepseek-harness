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人形机器人市场规模(亿元)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24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3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41</c:v>
                </c:pt>
                <c:pt idx="2">
                  <c:v>90</c:v>
                </c:pt>
                <c:pt idx="3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A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F4F1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 · 2026年8月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3EEE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机器人产业研究报告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 · 技术 · 产业链投资机会全景扫描</a:t>
            </a:r>
            <a:endParaRPr lang="en-US" sz="1600" dirty="0"/>
          </a:p>
        </p:txBody>
      </p:sp>
      <p:pic>
        <p:nvPicPr>
          <p:cNvPr id="7" name="Image 0" descr="/Users/lisun/workplace/go-harness/web/sessions/session-87/workspace/.pptx-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96596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40.9万台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2025年工业机器人装机量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约50%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38912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占全球工业机器人市场份额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4709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190亿元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38160" y="5349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2026E人形机器人产值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数据口径见附录 · 基于公开信息整理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C1C14"/>
          </a:solidFill>
          <a:ln w="12700">
            <a:solidFill>
              <a:srgbClr val="0C1C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74520" y="1545336"/>
            <a:ext cx="438912" cy="438912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8" name="Image 0" descr="/Users/lisun/workplace/go-harness/web/sessions/session-87/workspace/.pptx-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6276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147218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行业全景速览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14600" y="1783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机器人装机与产业核心数据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93522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874520" y="2322576"/>
            <a:ext cx="438912" cy="438912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14" name="Image 1" descr="/Users/lisun/workplace/go-harness/web/sessions/session-87/workspace/.pptx-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24048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224942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政策驱动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14600" y="2560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人形机器人·具身智能国家未来产业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71246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29718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1874520" y="3099816"/>
            <a:ext cx="438912" cy="438912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0" name="Image 2" descr="/Users/lisun/workplace/go-harness/web/sessions/session-87/workspace/.pptx-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31821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14600" y="302666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三大赛道透视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514600" y="3337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工业·人形·服务机器人现状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48970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37490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1874520" y="3877056"/>
            <a:ext cx="438912" cy="438912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6" name="Image 3" descr="/Users/lisun/workplace/go-harness/web/sessions/session-87/workspace/.pptx-icons/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95935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14600" y="380390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产业链图谱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514600" y="4114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上游零部件到下游应用全景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080" y="5266944"/>
            <a:ext cx="10881360" cy="9144"/>
          </a:xfrm>
          <a:prstGeom prst="rect">
            <a:avLst/>
          </a:prstGeom>
          <a:solidFill>
            <a:srgbClr val="E4DFD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4526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5D0C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Shape 25"/>
          <p:cNvSpPr/>
          <p:nvPr/>
        </p:nvSpPr>
        <p:spPr>
          <a:xfrm>
            <a:off x="1874520" y="4654296"/>
            <a:ext cx="438912" cy="438912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32" name="Image 4" descr="/Users/lisun/workplace/go-harness/web/sessions/session-87/workspace/.pptx-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473659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14600" y="458114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投资主线与风险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2514600" y="4892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结构性机会、潜在风险与展望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行业全景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中国机器人行业核心数据速览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8" name="Image 0" descr="/Users/lisun/workplace/go-harness/web/sessions/session-87/workspace/.pptx-icons/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196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40.9万台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2025年工业机器人装机量，全球第一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31972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1972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8004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14" name="Image 1" descr="/Users/lisun/workplace/go-harness/web/sessions/session-87/workspace/.pptx-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18196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8004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16.9%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688004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全球工业机器人装机量同比增速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3864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9896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0" name="Image 2" descr="/Users/lisun/workplace/go-harness/web/sessions/session-87/workspace/.pptx-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196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9896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约50%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479896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中国占全球工业机器人市场份额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15755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15755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71787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6" name="Image 3" descr="/Users/lisun/workplace/go-harness/web/sessions/session-87/workspace/.pptx-icons/humano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083" y="18196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1787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190亿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9271787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2026E人形机器人产业链产值(元)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政策驱动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人形机器人被列为国家未来产业，规模快速爬坡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43000"/>
          <a:ext cx="1106424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政策驱动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政策要点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2023年起人形机器人列入未来产业新赛道，北京、上海、深圳等地出台专项政策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2025年全球首场人形机器人半程马拉松、多款量产下线，从实验室走向产业化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918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减速器、伺服电机、控制器等核心零部件国产化成为扶持重点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416052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具身智能写入多个省市"十五五"规划，被定位为下一代智能终端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赛道透视 · 工业机器人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工业机器人：从"机器换人"到"灯塔工厂"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装机与市场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中国连续12年蝉联全球最大市场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汽车、3C、锂电、光伏为四大应用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协作与焊接机器人增速领先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结构变化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本土品牌份额持续提升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减速器国产化约40%、伺服约50%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海外龙头加速在华本土化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赛道透视 · 人形机器人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人形机器人：2026 进入量产元年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8" name="Image 0" descr="/Users/lisun/workplace/go-harness/web/sessions/session-87/workspace/.pptx-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196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190亿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2026E市场规模（亿元）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31972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1972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8004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14" name="Image 1" descr="/Users/lisun/workplace/go-harness/web/sessions/session-87/workspace/.pptx-icons/humano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18196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8004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10万台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688004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特斯拉Optimus 2027年量产目标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3864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9896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0" name="Image 2" descr="/Users/lisun/workplace/go-harness/web/sessions/session-87/workspace/.pptx-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196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9896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52个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479896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自由度（关节数量多、复杂度高）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15755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15755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71787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6" name="Image 3" descr="/Users/lisun/workplace/go-harness/web/sessions/session-87/workspace/.pptx-icons/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083" y="18196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1787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70%+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9271787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核心零部件成本占比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赛道透视 · 服务机器人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服务机器人：商用与特种场景快速放量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配送、清洁、导览、巡检等商用机器人渗透率提升，头部企业加速出海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特种机器人（应急、电力巡检、农业植保）政策采购需求稳定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918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家用清洁机器人进入智能升级与价格下沉阶段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416052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AI大模型接入使服务机器人从"功能机"走向"智能体"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产业链全景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机器人全产业链图谱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 · 核心零部件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减速器 / 伺服电机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控制器 / 传感器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芯片 / AI大模型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0782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精密结构件 / 本体材料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中游 · 本体与集成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9128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工业机器人本体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27614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人形机器人本体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9128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服务机器人本体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39128" y="40782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系统集成与解决方案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产业链全景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下游 · 应用场景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汽车、3C电子、锂电、光伏等制造业自动化产线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物流仓储、商超配送、医疗康复、家庭服务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918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电力巡检、应急救援、国防安防等特种场景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结构性主线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四条值得关注的结构性主线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8" name="Image 0" descr="/Users/lisun/workplace/go-harness/web/sessions/session-87/workspace/.pptx-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196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核心零部件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减速器国产替代空间大，龙头议价能力强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31972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1972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8004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14" name="Image 1" descr="/Users/lisun/workplace/go-harness/web/sessions/session-87/workspace/.pptx-icon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18196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8004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AI+具身智能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688004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大模型赋予自主决策能力，成下一代入口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3864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9896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0" name="Image 2" descr="/Users/lisun/workplace/go-harness/web/sessions/session-87/workspace/.pptx-icons/humano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196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9896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人形机器人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479896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量产放量在即，特斯拉/Figure/优必选卡位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15755" y="1417320"/>
            <a:ext cx="2535860" cy="443484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15755" y="141732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71787" y="1737360"/>
            <a:ext cx="420624" cy="420624"/>
          </a:xfrm>
          <a:prstGeom prst="ellipse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pic>
        <p:nvPicPr>
          <p:cNvPr id="26" name="Image 3" descr="/Users/lisun/workplace/go-harness/web/sessions/session-87/workspace/.pptx-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083" y="18196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1787" y="237744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出海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9271787" y="3840480"/>
            <a:ext cx="20786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工业与服务机器人加速布局东南亚、欧美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风险提示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需要关注的潜在风险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55448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技术路线不确定：人形商业节奏、成本下降可能不及预期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核心零部件依赖：高端减速器、高精传感器、AI芯片部分进口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918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竞争加剧：同质化与价格战压缩中游本体利润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416052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9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出口合规：关税、数据安全与本地化要求趋严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3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EEE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展望：从自动化到具身智能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数据来源：国家统计局、国际机器人联合会(IFR)、行业协会及公开报道；本报告基于公开信息整理，仅供参考，不构成投资建议。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机器人产业研究报告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95560" y="6355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C1C14"/>
          </a:solidFill>
          <a:ln w="12700">
            <a:solidFill>
              <a:srgbClr val="0C1C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5560" y="6355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4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机器人产业研究报告</dc:title>
  <dc:subject>PptxGenJS Presentation</dc:subject>
  <dc:creator>PABuddy</dc:creator>
  <cp:lastModifiedBy>PABuddy</cp:lastModifiedBy>
  <cp:revision>1</cp:revision>
  <dcterms:created xsi:type="dcterms:W3CDTF">2026-08-22T16:04:52Z</dcterms:created>
  <dcterms:modified xsi:type="dcterms:W3CDTF">2026-08-22T16:04:52Z</dcterms:modified>
</cp:coreProperties>
</file>