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Calibri"/>
              </a:rPr>
              <a:t>2025年基数 vs 2030年规划目标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2025年底基数</c:v>
                </c:pt>
              </c:strCache>
            </c:strRef>
          </c:tx>
          <c:spPr>
            <a:solidFill>
              <a:srgbClr val="8FB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风光总装机
(亿千瓦)</c:v>
                  </c:pt>
                  <c:pt idx="1">
                    <c:v>新型储能
(亿千瓦)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18.42</c:v>
                </c:pt>
                <c:pt idx="1">
                  <c:v>1.36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2030年目标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风光总装机
(亿千瓦)</c:v>
                  </c:pt>
                  <c:pt idx="1">
                    <c:v>新型储能
(亿千瓦)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A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Calibri"/>
              </a:rPr>
              <a:t>2026年上半年新能源汽车核心指标（万辆）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2026年上半年（万辆）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产量</c:v>
                  </c:pt>
                  <c:pt idx="1">
                    <c:v>销量</c:v>
                  </c:pt>
                  <c:pt idx="2">
                    <c:v>出口量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743.8</c:v>
                </c:pt>
                <c:pt idx="1">
                  <c:v>744.6</c:v>
                </c:pt>
                <c:pt idx="2">
                  <c:v>235.5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Calibri"/>
              </a:rPr>
              <a:t>2026年一季度光伏新增并网结构（万千瓦）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新增并网结构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2E"/>
              </a:solidFill>
              <a:effectLst/>
            </c:spPr>
          </c:dPt>
          <c:dPt>
            <c:idx val="1"/>
            <c:bubble3D val="0"/>
            <c:spPr>
              <a:solidFill>
                <a:srgbClr val="FFB6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集中式光伏</c:v>
                </c:pt>
                <c:pt idx="1">
                  <c:v>分布式光伏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1962</c:v>
                </c:pt>
                <c:pt idx="1">
                  <c:v>2157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Calibri"/>
              </a:rPr>
              <a:t>海上风电装机：现状 vs 2030年目标（万千瓦）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海上风电累计装机（万千瓦）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2026年3月末</c:v>
                  </c:pt>
                  <c:pt idx="1">
                    <c:v>2030年规划目标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4722</c:v>
                </c:pt>
                <c:pt idx="1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energy_ppt/icons/leaf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-914400"/>
            <a:ext cx="5120640" cy="5120640"/>
          </a:xfrm>
          <a:prstGeom prst="rect">
            <a:avLst/>
          </a:prstGeom>
        </p:spPr>
      </p:pic>
      <p:pic>
        <p:nvPicPr>
          <p:cNvPr id="3" name="Image 1" descr="/home/claude/newenergy_ppt/icons/bolt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-1188720" y="4206240"/>
            <a:ext cx="3840480" cy="3840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行业研究报告 · 2026年8月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7724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新能源产业研究报告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 · 市场 · 产业链投资机会全景扫描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229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23.37亿千瓦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22960" y="5559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可再生能源累计装机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519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744.6万辆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251960" y="5559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2026H1新能源车销量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68096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12.4亿千瓦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680960" y="5559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光伏累计装机容量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937760"/>
            <a:ext cx="10241280" cy="0"/>
          </a:xfrm>
          <a:prstGeom prst="line">
            <a:avLst/>
          </a:prstGeom>
          <a:noFill/>
          <a:ln w="12700">
            <a:solidFill>
              <a:srgbClr val="1E52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1848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17320" y="1673352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/home/claude/newenergy_ppt/icons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974" y="1786006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5819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行业全景速览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48840" y="1947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可再生能源装机与新能源车市场核心数据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10881360" cy="0"/>
          </a:xfrm>
          <a:prstGeom prst="line">
            <a:avLst/>
          </a:prstGeom>
          <a:noFill/>
          <a:ln w="12700">
            <a:solidFill>
              <a:srgbClr val="E2EA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1417320" y="2660904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/home/claude/newenergy_pp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74" y="2773558"/>
            <a:ext cx="286756" cy="286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25694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政策驱动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148840" y="29352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“十五五”碳达峰行动方案目标解读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429000"/>
            <a:ext cx="10881360" cy="0"/>
          </a:xfrm>
          <a:prstGeom prst="line">
            <a:avLst/>
          </a:prstGeom>
          <a:noFill/>
          <a:ln w="12700">
            <a:solidFill>
              <a:srgbClr val="E2EA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5935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1417320" y="3648456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2" descr="/home/claude/newenergy_ppt/icons/c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974" y="3761110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48840" y="3557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三大赛道透视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148840" y="39227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新能源汽车、光伏、风电产业现状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416552"/>
            <a:ext cx="10881360" cy="0"/>
          </a:xfrm>
          <a:prstGeom prst="line">
            <a:avLst/>
          </a:prstGeom>
          <a:noFill/>
          <a:ln w="12700">
            <a:solidFill>
              <a:srgbClr val="E2EAE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8640" y="458114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1417320" y="4636008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3" descr="/home/claude/newenergy_ppt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974" y="4748662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148840" y="4544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储能、电网与产业链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2148840" y="49103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新型储能布局与全产业链图谱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5404104"/>
            <a:ext cx="10881360" cy="0"/>
          </a:xfrm>
          <a:prstGeom prst="line">
            <a:avLst/>
          </a:prstGeom>
          <a:noFill/>
          <a:ln w="12700">
            <a:solidFill>
              <a:srgbClr val="E2EAE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556869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Shape 23"/>
          <p:cNvSpPr/>
          <p:nvPr/>
        </p:nvSpPr>
        <p:spPr>
          <a:xfrm>
            <a:off x="1417320" y="5623560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0" name="Image 4" descr="/home/claude/newenergy_ppt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974" y="5736214"/>
            <a:ext cx="286756" cy="2867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148840" y="5532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投资主线与风险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2148840" y="5897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结构性机会、潜在风险与展望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行业全景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中国新能源行业核心数据速览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1F6F3"/>
          </a:solidFill>
          <a:ln/>
          <a:effectLst>
            <a:outerShdw sx="100000" sy="100000" kx="0" ky="0" algn="bl" rotWithShape="0" blurRad="101600" dist="38100" dir="5400000">
              <a:srgbClr val="94A8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74520"/>
            <a:ext cx="603504" cy="60350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newenergy_ppt/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2007291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6517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23.37亿千瓦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04088" y="322783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占总装机比重60.1%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" y="3749040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全国可再生能源累计装机容量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00984" y="160020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1F6F3"/>
          </a:solidFill>
          <a:ln/>
          <a:effectLst>
            <a:outerShdw sx="100000" sy="100000" kx="0" ky="0" algn="bl" rotWithShape="0" blurRad="101600" dist="38100" dir="5400000">
              <a:srgbClr val="94A8A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74520"/>
            <a:ext cx="603504" cy="60350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/home/claude/newenergy_ppt/icons/windTurb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787" y="2007291"/>
            <a:ext cx="337962" cy="337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26517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18.42亿千瓦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3502152" y="322783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历史性超过火电装机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02152" y="3749040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风光发电总装机规模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99048" y="160020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1F6F3"/>
          </a:solidFill>
          <a:ln/>
          <a:effectLst>
            <a:outerShdw sx="100000" sy="100000" kx="0" ky="0" algn="bl" rotWithShape="0" blurRad="101600" dist="38100" dir="5400000">
              <a:srgbClr val="94A8A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874520"/>
            <a:ext cx="603504" cy="60350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/home/claude/newenergy_ppt/icons/c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51" y="2007291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26517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49.6%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6300216" y="322783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6月单月渗透率达58.5%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0216" y="3749040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2026上半年新能源车渗透率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897112" y="160020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1F6F3"/>
          </a:solidFill>
          <a:ln/>
          <a:effectLst>
            <a:outerShdw sx="100000" sy="100000" kx="0" ky="0" algn="bl" rotWithShape="0" blurRad="101600" dist="38100" dir="5400000">
              <a:srgbClr val="94A8A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53144" y="1874520"/>
            <a:ext cx="603504" cy="60350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4" name="Image 3" descr="/home/claude/newenergy_ppt/icons/s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915" y="2007291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98280" y="265176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235.5万辆</a:t>
            </a:r>
            <a:endParaRPr lang="en-US" sz="2700" dirty="0"/>
          </a:p>
        </p:txBody>
      </p:sp>
      <p:sp>
        <p:nvSpPr>
          <p:cNvPr id="26" name="Text 20"/>
          <p:cNvSpPr/>
          <p:nvPr/>
        </p:nvSpPr>
        <p:spPr>
          <a:xfrm>
            <a:off x="9098280" y="322783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同比增长122.2%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098280" y="3749040"/>
            <a:ext cx="21396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2026上半年新能源车出口量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数据来源：国家能源局、中国汽车工业协会、水电水利规划设计总院（截至2026年上半年/一季度）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政策驱动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“十五五”碳达峰行动方案：新能源发展目标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00200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/home/claude/newenergy_pp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14" y="1712854"/>
            <a:ext cx="286756" cy="2867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80960" y="1572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抽水蓄能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680960" y="1856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1.6亿千瓦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995160" y="2532888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0" name="Image 1" descr="/home/claude/newenergy_ppt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814" y="2645542"/>
            <a:ext cx="286756" cy="2867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虚拟电厂调节能力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68096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超5000万千瓦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995160" y="3465576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2" descr="/home/claude/newenergy_ppt/icons/arrow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814" y="3578230"/>
            <a:ext cx="286756" cy="2867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096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风光装机增幅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680960" y="3721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较2025年底 +52%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6995160" y="4398264"/>
            <a:ext cx="512064" cy="51206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3" descr="/home/claude/newenergy_ppt/icons/batte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814" y="4510918"/>
            <a:ext cx="286756" cy="2867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新型储能增幅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680960" y="46542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较2025年底 +121%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6995160" y="5376672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目标：到2030年风光总装机超28亿千瓦，储能、抽蓄、虚拟电厂并列成为电力系统调节三大支柱。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赛道透视 · 新能源汽车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内销分化、出口爆发：新能源车产业链持续扩张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349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产量同比+6.0%　销量同比+7.3%　出口同比+122.2%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0" y="16459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/>
        </p:spPr>
      </p:sp>
      <p:sp>
        <p:nvSpPr>
          <p:cNvPr id="7" name="Text 4"/>
          <p:cNvSpPr/>
          <p:nvPr/>
        </p:nvSpPr>
        <p:spPr>
          <a:xfrm>
            <a:off x="7059168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49.6%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732520" y="1737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上半年新能源车零售渗透率（6月单月达58.5%）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2871216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/>
        </p:spPr>
      </p:sp>
      <p:sp>
        <p:nvSpPr>
          <p:cNvPr id="10" name="Text 7"/>
          <p:cNvSpPr/>
          <p:nvPr/>
        </p:nvSpPr>
        <p:spPr>
          <a:xfrm>
            <a:off x="7059168" y="29626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39.7万辆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32520" y="2962656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比亚迪单月批发销量，稳居行业第一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4096512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6F3"/>
          </a:solidFill>
          <a:ln/>
        </p:spPr>
      </p:sp>
      <p:sp>
        <p:nvSpPr>
          <p:cNvPr id="13" name="Text 10"/>
          <p:cNvSpPr/>
          <p:nvPr/>
        </p:nvSpPr>
        <p:spPr>
          <a:xfrm>
            <a:off x="7059168" y="418795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732520" y="41879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纯电动车型在新能源车销量中的占比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53766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政策与竞争提示：7月新能源汽车安全新国标落地（电池热失控不起火强制要求），推高单车成本、加速中小产能出清；2027年混动车型车船税优惠取消。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赛道透视 · 光伏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从“比规模”转向“价值竞争”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12.4亿千瓦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累计光伏装机容量，同比+31.2%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4,119万千瓦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2026年一季度新增并网容量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212080" cy="0"/>
          </a:xfrm>
          <a:prstGeom prst="line">
            <a:avLst/>
          </a:prstGeom>
          <a:noFill/>
          <a:ln w="12700">
            <a:solidFill>
              <a:srgbClr val="E2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全球2026年新增装机预计648GW（彭博新能源财经），为历史上首次同比下行；政策转向与成熟市场饱和是主因。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“十五五”期间（2026-2030）全球年均光伏新增装机725-870GW；光伏制造端将从智能化、绿色化转向价值竞争。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1600200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263640" y="5577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集中式1,962万千瓦　分布式2,157万千瓦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赛道透视 · 风电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海上风电打开“十五五”增量空间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/home/claude/newenergy_ppt/icons/windTurb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7565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6.55亿千瓦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34440" y="1938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全国风电累计并网容量，同比+22.4%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1" descr="/home/claude/newenergy_ppt/icons/windTurb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1,577万千瓦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234440" y="2852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2026年一季度风电新增并网容量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2" descr="/home/claude/newenergy_ppt/icons/windTurb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58536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234440" y="3767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“三北”地区占全国新增风电装机比重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44805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海上风电：从沿海地价约束走向“十五五”重点赛道。产业链中，整机制造环节议价能力最强，零部件企业应收账期较长。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0" y="1600200"/>
          <a:ext cx="5257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658368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需较现状增长逾1倍，方能实现2030年超1亿千瓦（100GW）目标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储能、电网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新型储能加速布局，电网设备打开出海空间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1F6F3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865376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newenergy_ppt/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65" y="1982053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3亿千瓦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3580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新型储能2030年目标（较2025年底+121%）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00984" y="164592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1F6F3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152" y="1865376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/home/claude/newenergy_pp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29" y="1982053"/>
            <a:ext cx="296997" cy="296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514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1.6亿千瓦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83864" y="303580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抽水蓄能2030年目标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99048" y="164592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1F6F3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0216" y="1865376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/home/claude/newenergy_ppt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93" y="1982053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2514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5000万千瓦+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281928" y="303580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虚拟电厂调节能力2030年目标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97112" y="164592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1F6F3"/>
          </a:solidFill>
          <a:ln/>
        </p:spPr>
      </p:sp>
      <p:sp>
        <p:nvSpPr>
          <p:cNvPr id="20" name="Shape 15"/>
          <p:cNvSpPr/>
          <p:nvPr/>
        </p:nvSpPr>
        <p:spPr>
          <a:xfrm>
            <a:off x="9098280" y="1865376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/home/claude/newenergy_ppt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957" y="1982053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2514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079992" y="303580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电网设备龙头公司近年营收增速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4160520"/>
            <a:ext cx="11155680" cy="1874520"/>
          </a:xfrm>
          <a:prstGeom prst="roundRect">
            <a:avLst>
              <a:gd name="adj" fmla="val 4390"/>
            </a:avLst>
          </a:prstGeom>
          <a:solidFill>
            <a:srgbClr val="0B3D2E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电网设备出海逻辑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海外电网设施老化叠加数据中心建设需求，全社会用电量增长驱动设备更新周期开启；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变压器成本中约30%-40%为铜，电网设备景气度是近年铜价走强的重要驱动之一；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中国企业凭借性价比与交付能力优势，正在全球电网设备市场中获得更多份额。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产业链全景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新能源全产业链图谱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F1F6F3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19202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6" name="Image 0" descr="/home/claude/newenergy_ppt/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638" y="20610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原材料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锂 / 钴 / 镍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9136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工业硅 / 硅料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3982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稀土永磁材料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88289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铜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05072" y="3383280"/>
            <a:ext cx="630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709160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0B3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012180" y="1920240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5" name="Image 1" descr="/home/claude/newenergy_ppt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998" y="206105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制造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3776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动力电池 / 储能电池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37760" y="39136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光伏组件 / 电池片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937760" y="43982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风机整机 / 零部件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937760" y="488289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输变电设备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028432" y="3383280"/>
            <a:ext cx="630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8732520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F1F6F3"/>
          </a:solidFill>
          <a:ln/>
        </p:spPr>
      </p:sp>
      <p:sp>
        <p:nvSpPr>
          <p:cNvPr id="23" name="Shape 19"/>
          <p:cNvSpPr/>
          <p:nvPr/>
        </p:nvSpPr>
        <p:spPr>
          <a:xfrm>
            <a:off x="10035540" y="19202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2" descr="/home/claude/newenergy_ppt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358" y="2061058"/>
            <a:ext cx="358445" cy="35844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96112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新能源整车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961120" y="39136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 / 风电电站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961120" y="43982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电网 / 虚拟电厂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961120" y="488289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充换电基础设施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结构性主线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四条值得关注的结构性主线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1F6F3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90195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newenergy_ppt/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0226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电池为王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动力电池成本占整车比重超四成，垂直自研电池成为车企对冲原材料波动、稳定利润的核心路径。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1F6F3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0195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/home/claude/newenergy_ppt/icons/windTurb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202265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海上风电放量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“十五五”规划明确2030年海上风电装机目标超100GW，较现状增长逾1倍，沿海项目密集开工。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86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1F6F3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952" y="414223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/home/claude/newenergy_ppt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426293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42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电网设备出海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77240" y="47548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海外电网老化叠加数据中心用电需求，全球电网设备更新周期开启，中国企业份额持续提升。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1F6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9672" y="414223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/home/claude/newenergy_ppt/icons/s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426293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42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新能源车出口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37960" y="47548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上半年新能源车出口235.5万辆、同比+122.2%，正在成为对冲内需分化的核心增长引擎。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风险提示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需要关注的潜在风险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5" name="Image 0" descr="/home/claude/newenergy_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80228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光伏产能过剩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14800" y="166420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行业从“比规模、拼价格”转向“价值竞争”，阶段性价格竞争可能压制盈利修复节奏。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9" name="Image 1" descr="/home/claude/newenergy_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8995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61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原材料价格波动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114800" y="2761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锂、铜等关键原材料价格波动，将直接影响电池、电网设备等环节的成本与利润。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13" name="Image 2" descr="/home/claude/newenergy_ppt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99684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58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贸易与合规壁垒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114800" y="385876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海外市场反补贴、关税及本地化要求趋严，可能影响新能源车与光伏产品出口节奏。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17" name="Image 3" descr="/home/claude/newenergy_ppt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509412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9560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合规成本上升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114800" y="495604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7月新国标要求电池热失控不起火，单车成本增加数千元，加速中小产能出清但抬高门槛。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新能源产业研究报告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energy_ppt/icons/su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-8229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展望：从规模扩张到质量跃升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十五五”开局之年，中国新型能源体系建设全面提速。新能源发电装机占比持续提升，产业发展逻辑正从单纯的规模扩张，转向价值竞争与技术升级并重。电池、海上风电、电网设备出海与新能源车出口，构成观察本轮产业周期的四条重要主线。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663440"/>
            <a:ext cx="9692640" cy="0"/>
          </a:xfrm>
          <a:prstGeom prst="line">
            <a:avLst/>
          </a:prstGeom>
          <a:noFill/>
          <a:ln w="12700">
            <a:solidFill>
              <a:srgbClr val="1E52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8920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数据来源：国家能源局、中国汽车工业协会、水电水利规划设计总院、中国光伏行业协会、彭博新能源财经、公开新闻报道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本报告基于公开信息整理分析，仅供参考，不构成任何投资建议。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2026-08-22T13:18:56Z</dcterms:created>
  <dcterms:modified xsi:type="dcterms:W3CDTF">2026-08-22T13:18:56Z</dcterms:modified>
</cp:coreProperties>
</file>