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各模块任务数量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任务数</c:v>
                </c:pt>
              </c:strCache>
            </c:strRef>
          </c:tx>
          <c:dPt>
            <c:idx val="0"/>
            <c:spPr>
              <a:solidFill>
                <a:srgbClr val="0099CC"/>
              </a:solidFill>
            </c:spPr>
          </c:dPt>
          <c:dPt>
            <c:idx val="1"/>
            <c:spPr>
              <a:solidFill>
                <a:srgbClr val="FF6600"/>
              </a:solidFill>
            </c:spPr>
          </c:dPt>
          <c:dPt>
            <c:idx val="2"/>
            <c:spPr>
              <a:solidFill>
                <a:srgbClr val="4CAF50"/>
              </a:solidFill>
            </c:spPr>
          </c:dPt>
          <c:dPt>
            <c:idx val="3"/>
            <c:spPr>
              <a:solidFill>
                <a:srgbClr val="003366"/>
              </a:solidFill>
            </c:spPr>
          </c:dPt>
          <c:cat>
            <c:strRef>
              <c:f>Sheet1!$A$2:$A$5</c:f>
              <c:strCache>
                <c:ptCount val="4"/>
                <c:pt idx="0">
                  <c:v>CoPaw Skill</c:v>
                </c:pt>
                <c:pt idx="1">
                  <c:v>Gateway Server</c:v>
                </c:pt>
                <c:pt idx="2">
                  <c:v>快乐平安 Node</c:v>
                </c:pt>
                <c:pt idx="3">
                  <c:v>联调与部署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8</c:v>
                </c:pt>
                <c:pt idx="2">
                  <c:v>7</c:v>
                </c:pt>
                <c:pt idx="3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累计完成进度曲线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累计已完成</c:v>
                </c:pt>
              </c:strCache>
            </c:strRef>
          </c:tx>
          <c:marker>
            <c:symbol val="circle"/>
            <c:size val="6"/>
          </c:marker>
          <c:cat>
            <c:strRef>
              <c:f>Sheet1!$A$2:$A$24</c:f>
              <c:strCache>
                <c:ptCount val="23"/>
                <c:pt idx="0">
                  <c:v>#1</c:v>
                </c:pt>
                <c:pt idx="1">
                  <c:v>#2</c:v>
                </c:pt>
                <c:pt idx="2">
                  <c:v>#3</c:v>
                </c:pt>
                <c:pt idx="3">
                  <c:v>#4</c:v>
                </c:pt>
                <c:pt idx="4">
                  <c:v>#5</c:v>
                </c:pt>
                <c:pt idx="5">
                  <c:v>#6</c:v>
                </c:pt>
                <c:pt idx="6">
                  <c:v>#7</c:v>
                </c:pt>
                <c:pt idx="7">
                  <c:v>#8</c:v>
                </c:pt>
                <c:pt idx="8">
                  <c:v>#9</c:v>
                </c:pt>
                <c:pt idx="9">
                  <c:v>#10</c:v>
                </c:pt>
                <c:pt idx="10">
                  <c:v>#11</c:v>
                </c:pt>
                <c:pt idx="11">
                  <c:v>#12</c:v>
                </c:pt>
                <c:pt idx="12">
                  <c:v>#13</c:v>
                </c:pt>
                <c:pt idx="13">
                  <c:v>#14</c:v>
                </c:pt>
                <c:pt idx="14">
                  <c:v>#15</c:v>
                </c:pt>
                <c:pt idx="15">
                  <c:v>#16</c:v>
                </c:pt>
                <c:pt idx="16">
                  <c:v>#17</c:v>
                </c:pt>
                <c:pt idx="17">
                  <c:v>#18</c:v>
                </c:pt>
                <c:pt idx="18">
                  <c:v>#19</c:v>
                </c:pt>
                <c:pt idx="19">
                  <c:v>#20</c:v>
                </c:pt>
                <c:pt idx="20">
                  <c:v>#21</c:v>
                </c:pt>
                <c:pt idx="21">
                  <c:v>#22</c:v>
                </c:pt>
                <c:pt idx="22">
                  <c:v>#23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11</c:v>
                </c:pt>
                <c:pt idx="12">
                  <c:v>12</c:v>
                </c:pt>
                <c:pt idx="13">
                  <c:v>12</c:v>
                </c:pt>
                <c:pt idx="14">
                  <c:v>13</c:v>
                </c:pt>
                <c:pt idx="15">
                  <c:v>14</c:v>
                </c:pt>
                <c:pt idx="16">
                  <c:v>15</c:v>
                </c:pt>
                <c:pt idx="17">
                  <c:v>16</c:v>
                </c:pt>
                <c:pt idx="18">
                  <c:v>17</c:v>
                </c:pt>
                <c:pt idx="19">
                  <c:v>18</c:v>
                </c:pt>
                <c:pt idx="20">
                  <c:v>18</c:v>
                </c:pt>
                <c:pt idx="21">
                  <c:v>18</c:v>
                </c:pt>
                <c:pt idx="22">
                  <c:v>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累计全部任务</c:v>
                </c:pt>
              </c:strCache>
            </c:strRef>
          </c:tx>
          <c:marker>
            <c:symbol val="circle"/>
            <c:size val="6"/>
          </c:marker>
          <c:cat>
            <c:strRef>
              <c:f>Sheet1!$A$2:$A$24</c:f>
              <c:strCache>
                <c:ptCount val="23"/>
                <c:pt idx="0">
                  <c:v>#1</c:v>
                </c:pt>
                <c:pt idx="1">
                  <c:v>#2</c:v>
                </c:pt>
                <c:pt idx="2">
                  <c:v>#3</c:v>
                </c:pt>
                <c:pt idx="3">
                  <c:v>#4</c:v>
                </c:pt>
                <c:pt idx="4">
                  <c:v>#5</c:v>
                </c:pt>
                <c:pt idx="5">
                  <c:v>#6</c:v>
                </c:pt>
                <c:pt idx="6">
                  <c:v>#7</c:v>
                </c:pt>
                <c:pt idx="7">
                  <c:v>#8</c:v>
                </c:pt>
                <c:pt idx="8">
                  <c:v>#9</c:v>
                </c:pt>
                <c:pt idx="9">
                  <c:v>#10</c:v>
                </c:pt>
                <c:pt idx="10">
                  <c:v>#11</c:v>
                </c:pt>
                <c:pt idx="11">
                  <c:v>#12</c:v>
                </c:pt>
                <c:pt idx="12">
                  <c:v>#13</c:v>
                </c:pt>
                <c:pt idx="13">
                  <c:v>#14</c:v>
                </c:pt>
                <c:pt idx="14">
                  <c:v>#15</c:v>
                </c:pt>
                <c:pt idx="15">
                  <c:v>#16</c:v>
                </c:pt>
                <c:pt idx="16">
                  <c:v>#17</c:v>
                </c:pt>
                <c:pt idx="17">
                  <c:v>#18</c:v>
                </c:pt>
                <c:pt idx="18">
                  <c:v>#19</c:v>
                </c:pt>
                <c:pt idx="19">
                  <c:v>#20</c:v>
                </c:pt>
                <c:pt idx="20">
                  <c:v>#21</c:v>
                </c:pt>
                <c:pt idx="21">
                  <c:v>#22</c:v>
                </c:pt>
                <c:pt idx="22">
                  <c:v>#23</c:v>
                </c:pt>
              </c:strCache>
            </c: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4.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任务状态分布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dPt>
            <c:idx val="0"/>
            <c:spPr>
              <a:solidFill>
                <a:srgbClr val="0099CC"/>
              </a:solidFill>
            </c:spPr>
          </c:dPt>
          <c:dPt>
            <c:idx val="1"/>
            <c:spPr>
              <a:solidFill>
                <a:srgbClr val="FF6600"/>
              </a:solidFill>
            </c:spPr>
          </c:dPt>
          <c:dPt>
            <c:idx val="2"/>
            <c:spPr>
              <a:solidFill>
                <a:srgbClr val="4CAF50"/>
              </a:solidFill>
            </c:spPr>
          </c:dPt>
          <c:cat>
            <c:strRef>
              <c:f>Sheet1!$A$2:$A$4</c:f>
              <c:strCache>
                <c:ptCount val="3"/>
                <c:pt idx="0">
                  <c:v>已完成</c:v>
                </c:pt>
                <c:pt idx="1">
                  <c:v>待开发</c:v>
                </c:pt>
                <c:pt idx="2">
                  <c:v>需外部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优先级分布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dPt>
            <c:idx val="0"/>
            <c:spPr>
              <a:solidFill>
                <a:srgbClr val="0099CC"/>
              </a:solidFill>
            </c:spPr>
          </c:dPt>
          <c:dPt>
            <c:idx val="1"/>
            <c:spPr>
              <a:solidFill>
                <a:srgbClr val="FF6600"/>
              </a:solidFill>
            </c:spPr>
          </c:dPt>
          <c:dPt>
            <c:idx val="2"/>
            <c:spPr>
              <a:solidFill>
                <a:srgbClr val="4CAF50"/>
              </a:solidFill>
            </c:spPr>
          </c:dPt>
          <c:cat>
            <c:strRef>
              <c:f>Sheet1!$A$2:$A$4</c:f>
              <c:strCache>
                <c:ptCount val="3"/>
                <c:pt idx="0">
                  <c:v>P0</c:v>
                </c:pt>
                <c:pt idx="1">
                  <c:v>P1</c:v>
                </c:pt>
                <c:pt idx="2">
                  <c:v>P2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</c:v>
                </c:pt>
                <c:pt idx="1">
                  <c:v>5</c:v>
                </c:pt>
                <c:pt idx="2">
                  <c:v>1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92024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03366"/>
                </a:solidFill>
              </a:rPr>
              <a:t>COPaw Gateway 任务进度看板</a:t>
            </a:r>
          </a:p>
          <a:p>
            <a:r>
              <a:rPr sz="2000">
                <a:solidFill>
                  <a:srgbClr val="0099CC"/>
                </a:solidFill>
              </a:rPr>
              <a:t>基于 copaw_gateway_tasks_1.xlsx 生成的可交互柱状图与折线图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93192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366"/>
                </a:solidFill>
              </a:rPr>
              <a:t>任务总数 23　|　模块数 4　|　优先级 P0 17 / P1 5 / P2 1</a:t>
            </a:r>
          </a:p>
          <a:p>
            <a:r>
              <a:rPr sz="1800">
                <a:solidFill>
                  <a:srgbClr val="505050"/>
                </a:solidFill>
              </a:rPr>
              <a:t>已完成 18　待开发 3　需外部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3366"/>
                </a:solidFill>
              </a:rPr>
              <a:t>各模块任务数量（柱状图）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按模块统计所有任务的数量分布 —— 原生 Office 图表，可点击/编辑源数据实现交互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554480"/>
          <a:ext cx="1106424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3366"/>
                </a:solidFill>
              </a:rPr>
              <a:t>任务完成进度（折线图）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按任务编号累计的已完成数量 vs 累计全部任务 —— 原生 Office 图表，可交互查看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554480"/>
          <a:ext cx="1106424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3366"/>
                </a:solidFill>
              </a:rPr>
              <a:t>任务状态与优先级概览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463040"/>
          <a:ext cx="54864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309360" y="1463040"/>
          <a:ext cx="548640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