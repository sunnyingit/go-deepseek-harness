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当前项目 MAU(万)</c:v>
                </c:pt>
              </c:strCache>
            </c:strRef>
          </c:tx>
          <c:spPr>
            <a:solidFill>
              <a:srgbClr val="1F6F8B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14</c:v>
                </c:pt>
                <c:pt idx="2">
                  <c:v>26</c:v>
                </c:pt>
                <c:pt idx="3">
                  <c:v>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若不立项(基线)</c:v>
                </c:pt>
              </c:strCache>
            </c:strRef>
          </c:tx>
          <c:spPr>
            <a:solidFill>
              <a:srgbClr val="0E2A36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10</c:v>
                </c:pt>
                <c:pt idx="2">
                  <c:v>12</c:v>
                </c:pt>
                <c:pt idx="3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项目评审 · 2025 决策汇报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4754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为什么这个项目不该砍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12064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E6A75"/>
                </a:solidFill>
                <a:latin typeface="PingFang SC"/>
                <a:ea typeface="PingFang SC"/>
                <a:cs typeface="PingFang SC"/>
              </a:rPr>
              <a:t>用数据与事实，为「北极星增长项目」争取留存的最后一次陈述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6F8B"/>
                </a:solidFill>
                <a:latin typeface="PingFang SC"/>
                <a:ea typeface="PingFang SC"/>
                <a:cs typeface="PingFang SC"/>
              </a:rPr>
              <a:t>核心判断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一句话主张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64208"/>
            <a:ext cx="109728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砍掉它省下的是一笔账；留下的是一条已被验证的增长曲线。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14016"/>
            <a:ext cx="109728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项目已跨过「投入期」，正处在边际成本递减的放量拐点。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63824"/>
            <a:ext cx="109728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54096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此刻叫停，等于拿过去的隐性成本换取未来确定的损失。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13632"/>
            <a:ext cx="109728" cy="10972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03904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我们建议再给 2 个季度，以绑定核心北极星指标的方式验收。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6F8B"/>
                </a:solidFill>
                <a:latin typeface="PingFang SC"/>
                <a:ea typeface="PingFang SC"/>
                <a:cs typeface="PingFang SC"/>
              </a:rPr>
              <a:t>事实 · 已发生的产出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它已经带来什么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2535859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535859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86000"/>
            <a:ext cx="207865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F6F8B"/>
                </a:solidFill>
                <a:latin typeface="PingFang SC"/>
                <a:ea typeface="PingFang SC"/>
                <a:cs typeface="PingFang SC"/>
              </a:rPr>
              <a:t>+284%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840480"/>
            <a:ext cx="207865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E6A75"/>
                </a:solidFill>
                <a:latin typeface="PingFang SC"/>
                <a:ea typeface="PingFang SC"/>
                <a:cs typeface="PingFang SC"/>
              </a:rPr>
              <a:t>MAU 较立项同比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1971" y="1920240"/>
            <a:ext cx="2535859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31971" y="1920240"/>
            <a:ext cx="2535859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8003" y="2286000"/>
            <a:ext cx="207865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F6F8B"/>
                </a:solidFill>
                <a:latin typeface="PingFang SC"/>
                <a:ea typeface="PingFang SC"/>
                <a:cs typeface="PingFang SC"/>
              </a:rPr>
              <a:t>41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003" y="3840480"/>
            <a:ext cx="207865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E6A75"/>
                </a:solidFill>
                <a:latin typeface="PingFang SC"/>
                <a:ea typeface="PingFang SC"/>
                <a:cs typeface="PingFang SC"/>
              </a:rPr>
              <a:t>月活用户增量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3862" y="1920240"/>
            <a:ext cx="2535859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3862" y="1920240"/>
            <a:ext cx="2535859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9894" y="2286000"/>
            <a:ext cx="207865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F6F8B"/>
                </a:solidFill>
                <a:latin typeface="PingFang SC"/>
                <a:ea typeface="PingFang SC"/>
                <a:cs typeface="PingFang SC"/>
              </a:rPr>
              <a:t>1.9x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9894" y="3840480"/>
            <a:ext cx="207865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E6A75"/>
                </a:solidFill>
                <a:latin typeface="PingFang SC"/>
                <a:ea typeface="PingFang SC"/>
                <a:cs typeface="PingFang SC"/>
              </a:rPr>
              <a:t>留存提升至 1.9 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753" y="1920240"/>
            <a:ext cx="2535859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753" y="1920240"/>
            <a:ext cx="2535859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1785" y="2286000"/>
            <a:ext cx="207865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F6F8B"/>
                </a:solidFill>
                <a:latin typeface="PingFang SC"/>
                <a:ea typeface="PingFang SC"/>
                <a:cs typeface="PingFang SC"/>
              </a:rPr>
              <a:t>0 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1785" y="3840480"/>
            <a:ext cx="207865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E6A75"/>
                </a:solidFill>
                <a:latin typeface="PingFang SC"/>
                <a:ea typeface="PingFang SC"/>
                <a:cs typeface="PingFang SC"/>
              </a:rPr>
              <a:t>新增硬性硬件投入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6F8B"/>
                </a:solidFill>
                <a:latin typeface="PingFang SC"/>
                <a:ea typeface="PingFang SC"/>
                <a:cs typeface="PingFang SC"/>
              </a:rPr>
              <a:t>趋势 · 相对基线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增长曲线正在变陡——这正是放量前夜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554480"/>
          <a:ext cx="108813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6F8B"/>
                </a:solidFill>
                <a:latin typeface="PingFang SC"/>
                <a:ea typeface="PingFang SC"/>
                <a:cs typeface="PingFang SC"/>
              </a:rPr>
              <a:t>财务视角 · 别只算减法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砍 vs 留：账怎么算更划算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0749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830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6F8B"/>
                </a:solidFill>
                <a:latin typeface="PingFang SC"/>
                <a:ea typeface="PingFang SC"/>
                <a:cs typeface="PingFang SC"/>
              </a:rPr>
              <a:t>砍掉项目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·  前三个季度投入 ≈ 620 万，已沉没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1752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·  回收有限：仅能省下约 35% 的预算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65760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·  团队解散后再重启的冷启动成本更高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29768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·  失去已验证的用户增长曲线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600200"/>
            <a:ext cx="50749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9128" y="17830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6F8B"/>
                </a:solidFill>
                <a:latin typeface="PingFang SC"/>
                <a:ea typeface="PingFang SC"/>
                <a:cs typeface="PingFang SC"/>
              </a:rPr>
              <a:t>再投 2 个季度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237744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·  增量预算仅约为前期的 1/3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301752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·  现金流压力线性，收益非线性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65760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·  保留核心团队，冷启动成本为零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429768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·  把增长曲线变成本可复制的资产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6F8B"/>
                </a:solidFill>
                <a:latin typeface="PingFang SC"/>
                <a:ea typeface="PingFang SC"/>
                <a:cs typeface="PingFang SC"/>
              </a:rPr>
              <a:t>量化对照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关键指标对照：留项目 vs 砍项目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指标</a:t>
                      </a:r>
                    </a:p>
                  </a:txBody>
                  <a:tcPr anchor="ctr"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砍掉(12 月)</a:t>
                      </a:r>
                    </a:p>
                  </a:txBody>
                  <a:tcPr anchor="ctr"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再投 2 季(12 月)</a:t>
                      </a:r>
                    </a:p>
                  </a:txBody>
                  <a:tcPr anchor="ctr">
                    <a:solidFill>
                      <a:srgbClr val="1F6F8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E2A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E2A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回落至 14 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E2A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预计冲上 62 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E2A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单位获客成本</a:t>
                      </a:r>
                    </a:p>
                  </a:txBody>
                  <a:tcPr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E2A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反弹 +63%</a:t>
                      </a:r>
                    </a:p>
                  </a:txBody>
                  <a:tcPr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E2A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继续下降 -28%</a:t>
                      </a:r>
                    </a:p>
                  </a:txBody>
                  <a:tcPr anchor="ctr">
                    <a:solidFill>
                      <a:srgbClr val="F2F6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E2A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隐藏重启成本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E2A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280 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E2A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E2A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对北极星指标</a:t>
                      </a:r>
                    </a:p>
                  </a:txBody>
                  <a:tcPr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E2A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直接脱钩</a:t>
                      </a:r>
                    </a:p>
                  </a:txBody>
                  <a:tcPr anchor="ctr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E2A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强绑定、可验收</a:t>
                      </a:r>
                    </a:p>
                  </a:txBody>
                  <a:tcPr anchor="ctr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1498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E2A36"/>
                </a:solidFill>
                <a:latin typeface="PingFang SC"/>
                <a:ea typeface="PingFang SC"/>
                <a:cs typeface="PingFang SC"/>
              </a:rPr>
              <a:t>“砍掉一个即将放量的项目，不是在止损，</a:t>
            </a:r>
            <a:br/>
            <a:r>
              <a:t>而是在它刚要盈利的那一刻离场。”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57200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4E6A75"/>
                </a:solidFill>
                <a:latin typeface="PingFang SC"/>
                <a:ea typeface="PingFang SC"/>
                <a:cs typeface="PingFang SC"/>
              </a:rPr>
              <a:t>— 项目评审陈述 ·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我们请求的下一步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批准再投 2 个季度；每季度以 MAU 与留存作为硬性验收线——到期未达即尊重砍掉的决定。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